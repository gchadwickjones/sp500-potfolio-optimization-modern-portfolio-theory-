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a469d44a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a469d44a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a485365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a485365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a485365c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a485365c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a485365c5_7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a485365c5_7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a485365c5_7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a485365c5_7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a485365c5_7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a485365c5_7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a485365c5_7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a485365c5_7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a485365c5_7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a485365c5_7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a485365c5_7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a485365c5_7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a485365c5_7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a485365c5_7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a485365c5_7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a485365c5_7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a485365c5_7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a485365c5_7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467675"/>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baseline="30000" lang="en-GB" sz="6480"/>
              <a:t>Modern Portfolio Theory: Building an Optimised Stock Portfolio</a:t>
            </a:r>
            <a:endParaRPr b="1" baseline="30000" sz="6480"/>
          </a:p>
        </p:txBody>
      </p:sp>
      <p:sp>
        <p:nvSpPr>
          <p:cNvPr id="55" name="Google Shape;55;p13"/>
          <p:cNvSpPr txBox="1"/>
          <p:nvPr>
            <p:ph idx="1" type="subTitle"/>
          </p:nvPr>
        </p:nvSpPr>
        <p:spPr>
          <a:xfrm>
            <a:off x="311700" y="3643750"/>
            <a:ext cx="8520600" cy="792600"/>
          </a:xfrm>
          <a:prstGeom prst="rect">
            <a:avLst/>
          </a:prstGeom>
        </p:spPr>
        <p:txBody>
          <a:bodyPr anchorCtr="0" anchor="b" bIns="91425" lIns="91425" spcFirstLastPara="1" rIns="91425" wrap="square" tIns="91425">
            <a:normAutofit fontScale="85000"/>
          </a:bodyPr>
          <a:lstStyle/>
          <a:p>
            <a:pPr indent="0" lvl="0" marL="0" rtl="0" algn="ctr">
              <a:spcBef>
                <a:spcPts val="0"/>
              </a:spcBef>
              <a:spcAft>
                <a:spcPts val="0"/>
              </a:spcAft>
              <a:buNone/>
            </a:pPr>
            <a:r>
              <a:rPr lang="en-GB"/>
              <a:t>Mean-variance optimisation and risk based portfolio allocation </a:t>
            </a:r>
            <a:endParaRPr/>
          </a:p>
        </p:txBody>
      </p:sp>
      <p:sp>
        <p:nvSpPr>
          <p:cNvPr id="56" name="Google Shape;56;p13"/>
          <p:cNvSpPr txBox="1"/>
          <p:nvPr/>
        </p:nvSpPr>
        <p:spPr>
          <a:xfrm>
            <a:off x="5754700" y="182575"/>
            <a:ext cx="3151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George Chadwick-Jones</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Investment Objective</a:t>
            </a:r>
            <a:endParaRPr b="1"/>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 young client has a substantial amount of money to invest but is uncertain how to balance their portfolio so that it balances risk with return. </a:t>
            </a:r>
            <a:endParaRPr/>
          </a:p>
          <a:p>
            <a:pPr indent="0" lvl="0" marL="0" rtl="0" algn="l">
              <a:spcBef>
                <a:spcPts val="1200"/>
              </a:spcBef>
              <a:spcAft>
                <a:spcPts val="0"/>
              </a:spcAft>
              <a:buNone/>
            </a:pPr>
            <a:r>
              <a:rPr lang="en-GB" u="sng"/>
              <a:t>Objective</a:t>
            </a:r>
            <a:r>
              <a:rPr lang="en-GB"/>
              <a:t> </a:t>
            </a:r>
            <a:endParaRPr/>
          </a:p>
          <a:p>
            <a:pPr indent="-342900" lvl="0" marL="457200" rtl="0" algn="l">
              <a:spcBef>
                <a:spcPts val="1200"/>
              </a:spcBef>
              <a:spcAft>
                <a:spcPts val="0"/>
              </a:spcAft>
              <a:buSzPts val="1800"/>
              <a:buChar char="●"/>
            </a:pPr>
            <a:r>
              <a:rPr lang="en-GB"/>
              <a:t>Select a diverse range of stocks across different sectors and industries.</a:t>
            </a:r>
            <a:endParaRPr/>
          </a:p>
          <a:p>
            <a:pPr indent="-342900" lvl="0" marL="457200" rtl="0" algn="l">
              <a:spcBef>
                <a:spcPts val="0"/>
              </a:spcBef>
              <a:spcAft>
                <a:spcPts val="0"/>
              </a:spcAft>
              <a:buSzPts val="1800"/>
              <a:buChar char="●"/>
            </a:pPr>
            <a:r>
              <a:rPr lang="en-GB"/>
              <a:t>Analyse historical returns, volatility and covariance/correlation to understand how the stocks move in relation to one another.</a:t>
            </a:r>
            <a:endParaRPr/>
          </a:p>
          <a:p>
            <a:pPr indent="-342900" lvl="0" marL="457200" rtl="0" algn="l">
              <a:spcBef>
                <a:spcPts val="0"/>
              </a:spcBef>
              <a:spcAft>
                <a:spcPts val="0"/>
              </a:spcAft>
              <a:buSzPts val="1800"/>
              <a:buChar char="●"/>
            </a:pPr>
            <a:r>
              <a:rPr lang="en-GB"/>
              <a:t>Optimise portfolio allocations using Mean Variance Optimisation to identify efficient risk vs return combinations.</a:t>
            </a:r>
            <a:endParaRPr/>
          </a:p>
          <a:p>
            <a:pPr indent="-342900" lvl="0" marL="457200" rtl="0" algn="l">
              <a:spcBef>
                <a:spcPts val="0"/>
              </a:spcBef>
              <a:spcAft>
                <a:spcPts val="0"/>
              </a:spcAft>
              <a:buSzPts val="1800"/>
              <a:buChar char="●"/>
            </a:pPr>
            <a:r>
              <a:rPr lang="en-GB"/>
              <a:t>Create portfolio options for different levels of risk tolerance.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325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u="sng"/>
              <a:t>Stock Selection</a:t>
            </a:r>
            <a:endParaRPr u="sng"/>
          </a:p>
        </p:txBody>
      </p:sp>
      <p:sp>
        <p:nvSpPr>
          <p:cNvPr id="68" name="Google Shape;68;p15"/>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GB" sz="1400"/>
              <a:t>The portfolio consists of 6 stocks selected from different sectors and industries. The table shows the companies included in the analysis and their respective sectors and industries. </a:t>
            </a:r>
            <a:endParaRPr sz="1400"/>
          </a:p>
        </p:txBody>
      </p:sp>
      <p:pic>
        <p:nvPicPr>
          <p:cNvPr id="69" name="Google Shape;69;p15" title="stock_selection.png"/>
          <p:cNvPicPr preferRelativeResize="0"/>
          <p:nvPr/>
        </p:nvPicPr>
        <p:blipFill>
          <a:blip r:embed="rId3">
            <a:alphaModFix/>
          </a:blip>
          <a:stretch>
            <a:fillRect/>
          </a:stretch>
        </p:blipFill>
        <p:spPr>
          <a:xfrm>
            <a:off x="713138" y="1489163"/>
            <a:ext cx="7717724" cy="2057550"/>
          </a:xfrm>
          <a:prstGeom prst="rect">
            <a:avLst/>
          </a:prstGeom>
          <a:noFill/>
          <a:ln>
            <a:noFill/>
          </a:ln>
        </p:spPr>
      </p:pic>
      <p:sp>
        <p:nvSpPr>
          <p:cNvPr id="70" name="Google Shape;70;p15"/>
          <p:cNvSpPr txBox="1"/>
          <p:nvPr/>
        </p:nvSpPr>
        <p:spPr>
          <a:xfrm>
            <a:off x="635500" y="3627575"/>
            <a:ext cx="7341300" cy="24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rPr>
              <a:t>The stocks were selected based on their historical returns, risk and correlation characteristics. Combining stocks from different companies and sectors allows for diversification and reduces covariance as the returns rely upon different industries.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The selected stocks were:</a:t>
            </a:r>
            <a:r>
              <a:rPr lang="en-GB" sz="1100">
                <a:solidFill>
                  <a:schemeClr val="dk1"/>
                </a:solidFill>
              </a:rPr>
              <a:t> DXC Technology, Constellation Brands, NVIDIA, Incyte, Northrop Grumman and Delta Air Lines.</a:t>
            </a:r>
            <a:endParaRPr sz="1100">
              <a:solidFill>
                <a:schemeClr val="dk1"/>
              </a:solidFill>
            </a:endParaRPr>
          </a:p>
          <a:p>
            <a:pPr indent="0" lvl="0" marL="0" rtl="0" algn="l">
              <a:spcBef>
                <a:spcPts val="1200"/>
              </a:spcBef>
              <a:spcAft>
                <a:spcPts val="0"/>
              </a:spcAft>
              <a:buNone/>
            </a:pPr>
            <a:r>
              <a:t/>
            </a:r>
            <a:endParaRPr sz="11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DXC Technology (DXC)</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t>Sector: </a:t>
            </a:r>
            <a:r>
              <a:rPr lang="en-GB" sz="1100"/>
              <a:t>Information Technology</a:t>
            </a:r>
            <a:endParaRPr sz="1100"/>
          </a:p>
          <a:p>
            <a:pPr indent="0" lvl="0" marL="0" rtl="0" algn="l">
              <a:spcBef>
                <a:spcPts val="1200"/>
              </a:spcBef>
              <a:spcAft>
                <a:spcPts val="0"/>
              </a:spcAft>
              <a:buNone/>
            </a:pPr>
            <a:r>
              <a:rPr b="1" lang="en-GB" sz="1100"/>
              <a:t>Industry: </a:t>
            </a:r>
            <a:r>
              <a:rPr lang="en-GB" sz="1100"/>
              <a:t>IT Services</a:t>
            </a:r>
            <a:endParaRPr sz="1100"/>
          </a:p>
          <a:p>
            <a:pPr indent="0" lvl="0" marL="0" rtl="0" algn="l">
              <a:spcBef>
                <a:spcPts val="1200"/>
              </a:spcBef>
              <a:spcAft>
                <a:spcPts val="0"/>
              </a:spcAft>
              <a:buNone/>
            </a:pPr>
            <a:r>
              <a:rPr lang="en-GB" sz="1100"/>
              <a:t>DXC Technology is a worldwide provider of information technology (IT) services and consultancy that assists government organisations and big businesses in managing, modernising, and operating their vital systems.</a:t>
            </a:r>
            <a:endParaRPr sz="1100"/>
          </a:p>
          <a:p>
            <a:pPr indent="0" lvl="0" marL="0" rtl="0" algn="l">
              <a:lnSpc>
                <a:spcPct val="100000"/>
              </a:lnSpc>
              <a:spcBef>
                <a:spcPts val="1200"/>
              </a:spcBef>
              <a:spcAft>
                <a:spcPts val="0"/>
              </a:spcAft>
              <a:buNone/>
            </a:pPr>
            <a:r>
              <a:rPr lang="en-GB" sz="1100" u="sng"/>
              <a:t>Why was it selected?</a:t>
            </a:r>
            <a:endParaRPr sz="1100" u="sng"/>
          </a:p>
          <a:p>
            <a:pPr indent="-298450" lvl="0" marL="457200" rtl="0" algn="l">
              <a:lnSpc>
                <a:spcPct val="100000"/>
              </a:lnSpc>
              <a:spcBef>
                <a:spcPts val="1200"/>
              </a:spcBef>
              <a:spcAft>
                <a:spcPts val="0"/>
              </a:spcAft>
              <a:buSzPts val="1100"/>
              <a:buChar char="●"/>
            </a:pPr>
            <a:r>
              <a:rPr b="1" lang="en-GB" sz="1100"/>
              <a:t>DXC </a:t>
            </a:r>
            <a:r>
              <a:rPr lang="en-GB" sz="1100"/>
              <a:t>gives exposure to the IT industry while diversifying away from the </a:t>
            </a:r>
            <a:r>
              <a:rPr lang="en-GB" sz="1100"/>
              <a:t>portfolio</a:t>
            </a:r>
            <a:r>
              <a:rPr lang="en-GB" sz="1100"/>
              <a:t>’s other technology holding, NVIDIA. </a:t>
            </a:r>
            <a:endParaRPr sz="1100"/>
          </a:p>
          <a:p>
            <a:pPr indent="-298450" lvl="0" marL="457200" rtl="0" algn="l">
              <a:lnSpc>
                <a:spcPct val="100000"/>
              </a:lnSpc>
              <a:spcBef>
                <a:spcPts val="0"/>
              </a:spcBef>
              <a:spcAft>
                <a:spcPts val="0"/>
              </a:spcAft>
              <a:buSzPts val="1100"/>
              <a:buChar char="●"/>
            </a:pPr>
            <a:r>
              <a:rPr b="1" lang="en-GB" sz="1100"/>
              <a:t>DXC</a:t>
            </a:r>
            <a:r>
              <a:rPr lang="en-GB" sz="1100"/>
              <a:t> and Anthropic announced a partnership in June 2026 to integrate Claude AI into enterprise systems. This partnership could strengthen DXC’s position in the growing AI market and create new opportunities for revenue growth.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Constellation Brands (STZ)</a:t>
            </a:r>
            <a:endParaRPr/>
          </a:p>
        </p:txBody>
      </p:sp>
      <p:sp>
        <p:nvSpPr>
          <p:cNvPr id="82" name="Google Shape;82;p17"/>
          <p:cNvSpPr txBox="1"/>
          <p:nvPr>
            <p:ph idx="1" type="body"/>
          </p:nvPr>
        </p:nvSpPr>
        <p:spPr>
          <a:xfrm>
            <a:off x="311700" y="113769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t>Sector</a:t>
            </a:r>
            <a:r>
              <a:rPr lang="en-GB" sz="1100"/>
              <a:t>: </a:t>
            </a:r>
            <a:r>
              <a:rPr lang="en-GB" sz="1100"/>
              <a:t>Consumer Sales</a:t>
            </a:r>
            <a:endParaRPr sz="1100"/>
          </a:p>
          <a:p>
            <a:pPr indent="0" lvl="0" marL="0" rtl="0" algn="l">
              <a:spcBef>
                <a:spcPts val="1200"/>
              </a:spcBef>
              <a:spcAft>
                <a:spcPts val="0"/>
              </a:spcAft>
              <a:buNone/>
            </a:pPr>
            <a:r>
              <a:rPr b="1" lang="en-GB" sz="1100"/>
              <a:t>Industry</a:t>
            </a:r>
            <a:r>
              <a:rPr lang="en-GB" sz="1100"/>
              <a:t>: Beverages</a:t>
            </a:r>
            <a:endParaRPr sz="1100"/>
          </a:p>
          <a:p>
            <a:pPr indent="0" lvl="0" marL="0" rtl="0" algn="l">
              <a:spcBef>
                <a:spcPts val="1200"/>
              </a:spcBef>
              <a:spcAft>
                <a:spcPts val="0"/>
              </a:spcAft>
              <a:buNone/>
            </a:pPr>
            <a:r>
              <a:rPr b="1" lang="en-GB" sz="1100"/>
              <a:t>Constellation Brands</a:t>
            </a:r>
            <a:r>
              <a:rPr lang="en-GB" sz="1100"/>
              <a:t> is a major beverages company whose portfolio includes beer, wine and spirits brands. Some of its most well known brands are Mondelo, Corona and Pacifico. </a:t>
            </a:r>
            <a:endParaRPr sz="1100"/>
          </a:p>
          <a:p>
            <a:pPr indent="0" lvl="0" marL="0" rtl="0" algn="l">
              <a:spcBef>
                <a:spcPts val="1200"/>
              </a:spcBef>
              <a:spcAft>
                <a:spcPts val="0"/>
              </a:spcAft>
              <a:buNone/>
            </a:pPr>
            <a:r>
              <a:rPr lang="en-GB" sz="1100" u="sng"/>
              <a:t>Why was it selected?</a:t>
            </a:r>
            <a:endParaRPr sz="1100" u="sng"/>
          </a:p>
          <a:p>
            <a:pPr indent="-298450" lvl="0" marL="457200" rtl="0" algn="l">
              <a:spcBef>
                <a:spcPts val="1200"/>
              </a:spcBef>
              <a:spcAft>
                <a:spcPts val="0"/>
              </a:spcAft>
              <a:buSzPts val="1100"/>
              <a:buChar char="●"/>
            </a:pPr>
            <a:r>
              <a:rPr lang="en-GB" sz="1100"/>
              <a:t>Diversifies the portfolio away from technology</a:t>
            </a:r>
            <a:endParaRPr sz="1100"/>
          </a:p>
          <a:p>
            <a:pPr indent="-298450" lvl="0" marL="457200" rtl="0" algn="l">
              <a:spcBef>
                <a:spcPts val="0"/>
              </a:spcBef>
              <a:spcAft>
                <a:spcPts val="0"/>
              </a:spcAft>
              <a:buSzPts val="1100"/>
              <a:buChar char="●"/>
            </a:pPr>
            <a:r>
              <a:rPr lang="en-GB" sz="1100"/>
              <a:t>The company’s exposure to established consumer brands provides a different source of potential returns. </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t>Sector</a:t>
            </a:r>
            <a:r>
              <a:rPr lang="en-GB" sz="1100"/>
              <a:t>: Information Technology</a:t>
            </a:r>
            <a:endParaRPr sz="1100"/>
          </a:p>
          <a:p>
            <a:pPr indent="0" lvl="0" marL="0" rtl="0" algn="l">
              <a:spcBef>
                <a:spcPts val="1200"/>
              </a:spcBef>
              <a:spcAft>
                <a:spcPts val="0"/>
              </a:spcAft>
              <a:buNone/>
            </a:pPr>
            <a:r>
              <a:rPr b="1" lang="en-GB" sz="1100"/>
              <a:t>Industry</a:t>
            </a:r>
            <a:r>
              <a:rPr lang="en-GB" sz="1100"/>
              <a:t>: Semiconductors</a:t>
            </a:r>
            <a:endParaRPr sz="1100"/>
          </a:p>
          <a:p>
            <a:pPr indent="0" lvl="0" marL="0" rtl="0" algn="l">
              <a:spcBef>
                <a:spcPts val="1200"/>
              </a:spcBef>
              <a:spcAft>
                <a:spcPts val="0"/>
              </a:spcAft>
              <a:buNone/>
            </a:pPr>
            <a:r>
              <a:rPr b="1" lang="en-GB" sz="1100"/>
              <a:t>NVIDIA</a:t>
            </a:r>
            <a:r>
              <a:rPr lang="en-GB" sz="1100"/>
              <a:t> is a leading technology company best known for its GPUs. Its hardware and software have become central to artificial intelligence, data-centres and gaming.</a:t>
            </a:r>
            <a:endParaRPr sz="1100"/>
          </a:p>
          <a:p>
            <a:pPr indent="0" lvl="0" marL="0" rtl="0" algn="l">
              <a:spcBef>
                <a:spcPts val="1200"/>
              </a:spcBef>
              <a:spcAft>
                <a:spcPts val="0"/>
              </a:spcAft>
              <a:buNone/>
            </a:pPr>
            <a:r>
              <a:rPr lang="en-GB" sz="1100" u="sng"/>
              <a:t>Why was it selected?</a:t>
            </a:r>
            <a:endParaRPr sz="1100" u="sng"/>
          </a:p>
          <a:p>
            <a:pPr indent="-298450" lvl="0" marL="457200" rtl="0" algn="l">
              <a:spcBef>
                <a:spcPts val="1200"/>
              </a:spcBef>
              <a:spcAft>
                <a:spcPts val="0"/>
              </a:spcAft>
              <a:buSzPts val="1100"/>
              <a:buChar char="●"/>
            </a:pPr>
            <a:r>
              <a:rPr lang="en-GB" sz="1100"/>
              <a:t>NVIDIA has continued to experience high demand for its products given the boom in artificial intelligence and data centres. Its AI chips and platforms are being adopted by major technology companies and cloud service providers as they expand their AI infrastructure. </a:t>
            </a:r>
            <a:endParaRPr sz="1100"/>
          </a:p>
          <a:p>
            <a:pPr indent="-298450" lvl="0" marL="457200" rtl="0" algn="l">
              <a:spcBef>
                <a:spcPts val="0"/>
              </a:spcBef>
              <a:spcAft>
                <a:spcPts val="0"/>
              </a:spcAft>
              <a:buSzPts val="1100"/>
              <a:buChar char="●"/>
            </a:pPr>
            <a:r>
              <a:rPr lang="en-GB" sz="1100"/>
              <a:t>Has historically high returns, giving the potential for higher earnings but also has greater individual stock risk. </a:t>
            </a:r>
            <a:endParaRPr sz="1100"/>
          </a:p>
        </p:txBody>
      </p:sp>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NVIDIA (NVDA)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Incyte (INCY)</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t>Sector</a:t>
            </a:r>
            <a:r>
              <a:rPr lang="en-GB" sz="1100"/>
              <a:t>: Healthcare</a:t>
            </a:r>
            <a:endParaRPr sz="1100"/>
          </a:p>
          <a:p>
            <a:pPr indent="0" lvl="0" marL="0" rtl="0" algn="l">
              <a:spcBef>
                <a:spcPts val="1200"/>
              </a:spcBef>
              <a:spcAft>
                <a:spcPts val="0"/>
              </a:spcAft>
              <a:buNone/>
            </a:pPr>
            <a:r>
              <a:rPr b="1" lang="en-GB" sz="1100"/>
              <a:t>Industry</a:t>
            </a:r>
            <a:r>
              <a:rPr lang="en-GB" sz="1100"/>
              <a:t>: Biotechnology</a:t>
            </a:r>
            <a:endParaRPr sz="1100"/>
          </a:p>
          <a:p>
            <a:pPr indent="0" lvl="0" marL="0" rtl="0" algn="l">
              <a:spcBef>
                <a:spcPts val="1200"/>
              </a:spcBef>
              <a:spcAft>
                <a:spcPts val="0"/>
              </a:spcAft>
              <a:buNone/>
            </a:pPr>
            <a:r>
              <a:rPr lang="en-GB" sz="1100"/>
              <a:t>Incyte is </a:t>
            </a:r>
            <a:r>
              <a:rPr lang="en-GB" sz="1100"/>
              <a:t>biopharmaceutical</a:t>
            </a:r>
            <a:r>
              <a:rPr lang="en-GB" sz="1100"/>
              <a:t> company focussed on discovering, creating and commercialising medicines for serious illnesses. It has a particular focus on </a:t>
            </a:r>
            <a:r>
              <a:rPr lang="en-GB" sz="1100"/>
              <a:t>oncology</a:t>
            </a:r>
            <a:r>
              <a:rPr lang="en-GB" sz="1100"/>
              <a:t> and </a:t>
            </a:r>
            <a:r>
              <a:rPr lang="en-GB" sz="1100"/>
              <a:t>inflammatory</a:t>
            </a:r>
            <a:r>
              <a:rPr lang="en-GB" sz="1100"/>
              <a:t> conditions. </a:t>
            </a:r>
            <a:endParaRPr sz="1100"/>
          </a:p>
          <a:p>
            <a:pPr indent="0" lvl="0" marL="0" rtl="0" algn="l">
              <a:spcBef>
                <a:spcPts val="1200"/>
              </a:spcBef>
              <a:spcAft>
                <a:spcPts val="0"/>
              </a:spcAft>
              <a:buNone/>
            </a:pPr>
            <a:r>
              <a:rPr lang="en-GB" sz="1100" u="sng"/>
              <a:t>Why was it selected?</a:t>
            </a:r>
            <a:endParaRPr sz="1100" u="sng"/>
          </a:p>
          <a:p>
            <a:pPr indent="0" lvl="0" marL="0" rtl="0" algn="l">
              <a:spcBef>
                <a:spcPts val="1200"/>
              </a:spcBef>
              <a:spcAft>
                <a:spcPts val="0"/>
              </a:spcAft>
              <a:buNone/>
            </a:pPr>
            <a:r>
              <a:rPr lang="en-GB" sz="1100"/>
              <a:t>Incyte offers diversification away from technology and and consumer staples based industries by expanding the portfolio into healthcare and biotechnology. Its performance is influenced by pharmaceutical research, clinical development and demand for its treatments, giving the portfolio exposure to different market factors.</a:t>
            </a:r>
            <a:endParaRPr sz="1100"/>
          </a:p>
          <a:p>
            <a:pPr indent="0" lvl="0" marL="0" rtl="0" algn="l">
              <a:spcBef>
                <a:spcPts val="1200"/>
              </a:spcBef>
              <a:spcAft>
                <a:spcPts val="1200"/>
              </a:spcAft>
              <a:buNone/>
            </a:pPr>
            <a:r>
              <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Northrop Grumman (NOC)</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t>Sector</a:t>
            </a:r>
            <a:r>
              <a:rPr lang="en-GB" sz="1100"/>
              <a:t>: Industrials</a:t>
            </a:r>
            <a:endParaRPr sz="1100"/>
          </a:p>
          <a:p>
            <a:pPr indent="0" lvl="0" marL="0" rtl="0" algn="l">
              <a:spcBef>
                <a:spcPts val="1200"/>
              </a:spcBef>
              <a:spcAft>
                <a:spcPts val="0"/>
              </a:spcAft>
              <a:buNone/>
            </a:pPr>
            <a:r>
              <a:rPr b="1" lang="en-GB" sz="1100"/>
              <a:t>Industry</a:t>
            </a:r>
            <a:r>
              <a:rPr lang="en-GB" sz="1100"/>
              <a:t>: Aerospace and Defence</a:t>
            </a:r>
            <a:endParaRPr sz="1100"/>
          </a:p>
          <a:p>
            <a:pPr indent="0" lvl="0" marL="0" rtl="0" algn="l">
              <a:spcBef>
                <a:spcPts val="1200"/>
              </a:spcBef>
              <a:spcAft>
                <a:spcPts val="0"/>
              </a:spcAft>
              <a:buNone/>
            </a:pPr>
            <a:r>
              <a:rPr b="1" lang="en-GB" sz="1100"/>
              <a:t>Northrop Grumman</a:t>
            </a:r>
            <a:r>
              <a:rPr lang="en-GB" sz="1100"/>
              <a:t> is an aerospace and defence company that develops advanced systems for the US government and military including aircraft, space systems and autonomous technology. </a:t>
            </a:r>
            <a:endParaRPr sz="1100"/>
          </a:p>
          <a:p>
            <a:pPr indent="0" lvl="0" marL="0" rtl="0" algn="l">
              <a:spcBef>
                <a:spcPts val="1200"/>
              </a:spcBef>
              <a:spcAft>
                <a:spcPts val="0"/>
              </a:spcAft>
              <a:buNone/>
            </a:pPr>
            <a:r>
              <a:rPr lang="en-GB" sz="1100" u="sng"/>
              <a:t>Why was it selected?</a:t>
            </a:r>
            <a:endParaRPr sz="1100" u="sng"/>
          </a:p>
          <a:p>
            <a:pPr indent="0" lvl="0" marL="0" rtl="0" algn="l">
              <a:spcBef>
                <a:spcPts val="1200"/>
              </a:spcBef>
              <a:spcAft>
                <a:spcPts val="0"/>
              </a:spcAft>
              <a:buNone/>
            </a:pPr>
            <a:r>
              <a:rPr lang="en-GB" sz="1100"/>
              <a:t>Northrop Grumman gives exposure to the aerospace and defence industry, which is influenced by government programmes and long-term project as opposed to consumer or technology demand. This helps to give the portfolio another source of returns and reduces its reliance on consumer habits, which are liable to change with the economy. </a:t>
            </a:r>
            <a:endParaRPr sz="1100"/>
          </a:p>
          <a:p>
            <a:pPr indent="0" lvl="0" marL="0" rtl="0" algn="l">
              <a:spcBef>
                <a:spcPts val="1200"/>
              </a:spcBef>
              <a:spcAft>
                <a:spcPts val="0"/>
              </a:spcAft>
              <a:buNone/>
            </a:pPr>
            <a:r>
              <a:t/>
            </a:r>
            <a:endParaRPr sz="1100"/>
          </a:p>
          <a:p>
            <a:pPr indent="0" lvl="0" marL="0" rtl="0" algn="l">
              <a:spcBef>
                <a:spcPts val="1200"/>
              </a:spcBef>
              <a:spcAft>
                <a:spcPts val="1200"/>
              </a:spcAft>
              <a:buNone/>
            </a:pPr>
            <a:r>
              <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Delta Airlines (DAL)</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t>Sector</a:t>
            </a:r>
            <a:r>
              <a:rPr lang="en-GB" sz="1100"/>
              <a:t>: Industrials</a:t>
            </a:r>
            <a:endParaRPr sz="1100"/>
          </a:p>
          <a:p>
            <a:pPr indent="0" lvl="0" marL="0" rtl="0" algn="l">
              <a:spcBef>
                <a:spcPts val="1200"/>
              </a:spcBef>
              <a:spcAft>
                <a:spcPts val="0"/>
              </a:spcAft>
              <a:buNone/>
            </a:pPr>
            <a:r>
              <a:rPr b="1" lang="en-GB" sz="1100"/>
              <a:t>Industry</a:t>
            </a:r>
            <a:r>
              <a:rPr lang="en-GB" sz="1100"/>
              <a:t>: Airlines</a:t>
            </a:r>
            <a:endParaRPr sz="1100"/>
          </a:p>
          <a:p>
            <a:pPr indent="0" lvl="0" marL="0" rtl="0" algn="l">
              <a:spcBef>
                <a:spcPts val="1200"/>
              </a:spcBef>
              <a:spcAft>
                <a:spcPts val="0"/>
              </a:spcAft>
              <a:buNone/>
            </a:pPr>
            <a:r>
              <a:rPr lang="en-GB" sz="1100"/>
              <a:t>Delta is one of the world’s largest airlines, offering transportation for both passengers and cargo. It has an extensive domestic and international network, with its revenue being strongly influenced by travel demand, fuel costs and the wider economy. </a:t>
            </a:r>
            <a:endParaRPr sz="1100"/>
          </a:p>
          <a:p>
            <a:pPr indent="0" lvl="0" marL="0" rtl="0" algn="l">
              <a:spcBef>
                <a:spcPts val="1200"/>
              </a:spcBef>
              <a:spcAft>
                <a:spcPts val="0"/>
              </a:spcAft>
              <a:buNone/>
            </a:pPr>
            <a:r>
              <a:rPr lang="en-GB" sz="1100" u="sng"/>
              <a:t>Why was it selected?</a:t>
            </a:r>
            <a:endParaRPr sz="1100" u="sng"/>
          </a:p>
          <a:p>
            <a:pPr indent="0" lvl="0" marL="0" rtl="0" algn="l">
              <a:spcBef>
                <a:spcPts val="1200"/>
              </a:spcBef>
              <a:spcAft>
                <a:spcPts val="0"/>
              </a:spcAft>
              <a:buNone/>
            </a:pPr>
            <a:r>
              <a:rPr lang="en-GB" sz="1100"/>
              <a:t>Delta</a:t>
            </a:r>
            <a:r>
              <a:rPr lang="en-GB" sz="1100"/>
              <a:t> gives exposure to the airline industry, giving the portfolio an asset that is influenced by travel demand, fuel prices and wider economic conditions. These factors differ from market forces that impact the technology, healthcare and defence sectors, providing additional diversification. </a:t>
            </a:r>
            <a:endParaRPr sz="1100"/>
          </a:p>
          <a:p>
            <a:pPr indent="0" lvl="0" marL="0" rtl="0" algn="l">
              <a:spcBef>
                <a:spcPts val="1200"/>
              </a:spcBef>
              <a:spcAft>
                <a:spcPts val="1200"/>
              </a:spcAft>
              <a:buNone/>
            </a:pPr>
            <a:r>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0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Historical Risk and Return</a:t>
            </a:r>
            <a:endParaRPr/>
          </a:p>
        </p:txBody>
      </p:sp>
      <p:pic>
        <p:nvPicPr>
          <p:cNvPr id="112" name="Google Shape;112;p22" title="risk_return.png"/>
          <p:cNvPicPr preferRelativeResize="0"/>
          <p:nvPr/>
        </p:nvPicPr>
        <p:blipFill>
          <a:blip r:embed="rId3">
            <a:alphaModFix/>
          </a:blip>
          <a:stretch>
            <a:fillRect/>
          </a:stretch>
        </p:blipFill>
        <p:spPr>
          <a:xfrm>
            <a:off x="157125" y="2571763"/>
            <a:ext cx="4414874" cy="2571738"/>
          </a:xfrm>
          <a:prstGeom prst="rect">
            <a:avLst/>
          </a:prstGeom>
          <a:noFill/>
          <a:ln>
            <a:noFill/>
          </a:ln>
        </p:spPr>
      </p:pic>
      <p:sp>
        <p:nvSpPr>
          <p:cNvPr id="113" name="Google Shape;113;p22"/>
          <p:cNvSpPr txBox="1"/>
          <p:nvPr/>
        </p:nvSpPr>
        <p:spPr>
          <a:xfrm>
            <a:off x="308725" y="727700"/>
            <a:ext cx="8791200" cy="198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u="sng">
                <a:solidFill>
                  <a:schemeClr val="dk2"/>
                </a:solidFill>
              </a:rPr>
              <a:t>What the chart shows</a:t>
            </a:r>
            <a:endParaRPr sz="1100" u="sng">
              <a:solidFill>
                <a:schemeClr val="dk2"/>
              </a:solidFill>
            </a:endParaRPr>
          </a:p>
          <a:p>
            <a:pPr indent="0" lvl="0" marL="0" rtl="0" algn="l">
              <a:spcBef>
                <a:spcPts val="0"/>
              </a:spcBef>
              <a:spcAft>
                <a:spcPts val="0"/>
              </a:spcAft>
              <a:buNone/>
            </a:pPr>
            <a:r>
              <a:rPr lang="en-GB" sz="1100">
                <a:solidFill>
                  <a:schemeClr val="dk2"/>
                </a:solidFill>
              </a:rPr>
              <a:t>The chart shows the average return and volatility of each of the 6 selected stocks. Volatility, measures as the standard deviation of daily returns, is used as an indicator for historical risk.</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GB" sz="1100" u="sng">
                <a:solidFill>
                  <a:schemeClr val="dk2"/>
                </a:solidFill>
              </a:rPr>
              <a:t>Key findings</a:t>
            </a:r>
            <a:endParaRPr sz="1100" u="sng">
              <a:solidFill>
                <a:schemeClr val="dk2"/>
              </a:solidFill>
            </a:endParaRPr>
          </a:p>
          <a:p>
            <a:pPr indent="0" lvl="0" marL="0" rtl="0" algn="l">
              <a:spcBef>
                <a:spcPts val="0"/>
              </a:spcBef>
              <a:spcAft>
                <a:spcPts val="0"/>
              </a:spcAft>
              <a:buNone/>
            </a:pPr>
            <a:r>
              <a:rPr b="1" lang="en-GB" sz="1100">
                <a:solidFill>
                  <a:schemeClr val="dk2"/>
                </a:solidFill>
              </a:rPr>
              <a:t>NVIDIA </a:t>
            </a:r>
            <a:r>
              <a:rPr lang="en-GB" sz="1100">
                <a:solidFill>
                  <a:schemeClr val="dk2"/>
                </a:solidFill>
              </a:rPr>
              <a:t>produced the highest average daily return (0.256%), but also had a relatively high volatility (2.24%). </a:t>
            </a:r>
            <a:r>
              <a:rPr b="1" lang="en-GB" sz="1100">
                <a:solidFill>
                  <a:schemeClr val="dk1"/>
                </a:solidFill>
              </a:rPr>
              <a:t>NOC</a:t>
            </a:r>
            <a:r>
              <a:rPr lang="en-GB" sz="1100">
                <a:solidFill>
                  <a:schemeClr val="dk1"/>
                </a:solidFill>
              </a:rPr>
              <a:t> had the lowest volatility (1.09%), while </a:t>
            </a:r>
            <a:r>
              <a:rPr b="1" lang="en-GB" sz="1100">
                <a:solidFill>
                  <a:schemeClr val="dk1"/>
                </a:solidFill>
              </a:rPr>
              <a:t>INCY</a:t>
            </a:r>
            <a:r>
              <a:rPr lang="en-GB" sz="1100">
                <a:solidFill>
                  <a:schemeClr val="dk1"/>
                </a:solidFill>
              </a:rPr>
              <a:t> had the highest volatility (2.98%) despite a lower average return of 0.167%.</a:t>
            </a:r>
            <a:endParaRPr sz="1100">
              <a:solidFill>
                <a:schemeClr val="dk1"/>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GB" sz="1100">
                <a:solidFill>
                  <a:schemeClr val="dk2"/>
                </a:solidFill>
              </a:rPr>
              <a:t>The stocks have a wide variety of risk vs return characteristics, providing the optimisation model a wide variety of assets to choose from when creating portfolios of different risk profiles. </a:t>
            </a:r>
            <a:endParaRPr sz="1100">
              <a:solidFill>
                <a:schemeClr val="dk2"/>
              </a:solidFill>
            </a:endParaRPr>
          </a:p>
          <a:p>
            <a:pPr indent="0" lvl="0" marL="0" rtl="0" algn="l">
              <a:spcBef>
                <a:spcPts val="0"/>
              </a:spcBef>
              <a:spcAft>
                <a:spcPts val="0"/>
              </a:spcAft>
              <a:buNone/>
            </a:pPr>
            <a:r>
              <a:t/>
            </a:r>
            <a:endParaRPr sz="1100" u="sng">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Diversification and Correlation</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GB" sz="1100"/>
              <a:t>Correlation shows how strongly two stocks’ daily returns more together in response to market forces. A correlation close to ‘1’ shows a strong positive co-movement, whereas a correlation closer to ‘0’ indicates a weak relationship. Ideally, stocks in a portfolio should not have a strong correlation as you want them to be independent to balance the portfolio, making it more </a:t>
            </a:r>
            <a:r>
              <a:rPr lang="en-GB" sz="1100"/>
              <a:t>resilient</a:t>
            </a:r>
            <a:r>
              <a:rPr lang="en-GB" sz="1100"/>
              <a:t> to market forces. </a:t>
            </a:r>
            <a:endParaRPr sz="1100"/>
          </a:p>
          <a:p>
            <a:pPr indent="-298450" lvl="0" marL="457200" rtl="0" algn="l">
              <a:spcBef>
                <a:spcPts val="0"/>
              </a:spcBef>
              <a:spcAft>
                <a:spcPts val="0"/>
              </a:spcAft>
              <a:buSzPts val="1100"/>
              <a:buChar char="●"/>
            </a:pPr>
            <a:r>
              <a:rPr lang="en-GB" sz="1100"/>
              <a:t>The selected stocks show low to moderate positive correlations, </a:t>
            </a:r>
            <a:r>
              <a:rPr lang="en-GB" sz="1100"/>
              <a:t>ranging</a:t>
            </a:r>
            <a:r>
              <a:rPr lang="en-GB" sz="1100"/>
              <a:t> from approximately </a:t>
            </a:r>
            <a:r>
              <a:rPr b="1" lang="en-GB" sz="1100"/>
              <a:t>0.13 </a:t>
            </a:r>
            <a:r>
              <a:rPr lang="en-GB" sz="1100"/>
              <a:t>to </a:t>
            </a:r>
            <a:r>
              <a:rPr b="1" lang="en-GB" sz="1100"/>
              <a:t>0.33. </a:t>
            </a:r>
            <a:r>
              <a:rPr lang="en-GB" sz="1100"/>
              <a:t>This suggests that the portfolio is well-diversified as the stocks to not move together in response to market forces. This is a result of choosing stocks from a wide range of industries and sectors. </a:t>
            </a:r>
            <a:endParaRPr sz="1100"/>
          </a:p>
        </p:txBody>
      </p:sp>
      <p:pic>
        <p:nvPicPr>
          <p:cNvPr id="120" name="Google Shape;120;p23" title="correlation_matrix.png"/>
          <p:cNvPicPr preferRelativeResize="0"/>
          <p:nvPr/>
        </p:nvPicPr>
        <p:blipFill>
          <a:blip r:embed="rId3">
            <a:alphaModFix/>
          </a:blip>
          <a:stretch>
            <a:fillRect/>
          </a:stretch>
        </p:blipFill>
        <p:spPr>
          <a:xfrm>
            <a:off x="41925" y="3552926"/>
            <a:ext cx="3815700" cy="21295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97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Mean-Variance Optimisation</a:t>
            </a:r>
            <a:endParaRPr/>
          </a:p>
        </p:txBody>
      </p:sp>
      <p:sp>
        <p:nvSpPr>
          <p:cNvPr id="126" name="Google Shape;126;p24"/>
          <p:cNvSpPr txBox="1"/>
          <p:nvPr>
            <p:ph idx="1" type="body"/>
          </p:nvPr>
        </p:nvSpPr>
        <p:spPr>
          <a:xfrm>
            <a:off x="311700" y="827300"/>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GB" sz="1100"/>
              <a:t>10,000 random portfolios were generated using random weightings of the 6 selected stocks. The efficient frontier, denoted by the dashed line, identifies the portfolios offering the highest return for a given level of risk.</a:t>
            </a:r>
            <a:endParaRPr sz="1100"/>
          </a:p>
          <a:p>
            <a:pPr indent="-298450" lvl="0" marL="457200" rtl="0" algn="l">
              <a:spcBef>
                <a:spcPts val="0"/>
              </a:spcBef>
              <a:spcAft>
                <a:spcPts val="0"/>
              </a:spcAft>
              <a:buSzPts val="1100"/>
              <a:buChar char="●"/>
            </a:pPr>
            <a:r>
              <a:rPr lang="en-GB" sz="1100"/>
              <a:t>Mean-variance optimisation was used to identify the optimal portfolio by balancing expected return against portfolio volatility. The resulting portfolio is heavily weighted towards </a:t>
            </a:r>
            <a:r>
              <a:rPr b="1" lang="en-GB" sz="1100"/>
              <a:t>NVDA </a:t>
            </a:r>
            <a:r>
              <a:rPr lang="en-GB" sz="1100"/>
              <a:t>due to its strong historical returns.</a:t>
            </a:r>
            <a:endParaRPr sz="1100"/>
          </a:p>
          <a:p>
            <a:pPr indent="-298450" lvl="0" marL="457200" rtl="0" algn="l">
              <a:spcBef>
                <a:spcPts val="0"/>
              </a:spcBef>
              <a:spcAft>
                <a:spcPts val="0"/>
              </a:spcAft>
              <a:buSzPts val="1100"/>
              <a:buChar char="●"/>
            </a:pPr>
            <a:r>
              <a:rPr lang="en-GB" sz="1100"/>
              <a:t>The biased weight towards </a:t>
            </a:r>
            <a:r>
              <a:rPr b="1" lang="en-GB" sz="1100"/>
              <a:t>NVDA </a:t>
            </a:r>
            <a:r>
              <a:rPr lang="en-GB" sz="1100"/>
              <a:t>is a result of a lack of </a:t>
            </a:r>
            <a:r>
              <a:rPr lang="en-GB" sz="1100"/>
              <a:t>constraints</a:t>
            </a:r>
            <a:r>
              <a:rPr lang="en-GB" sz="1100"/>
              <a:t> on the optimisation. As no maximum allocation was implemented, the model was free to allocate the entirety of the portfolio to </a:t>
            </a:r>
            <a:r>
              <a:rPr b="1" lang="en-GB" sz="1100"/>
              <a:t>NVDA.</a:t>
            </a:r>
            <a:endParaRPr sz="1100"/>
          </a:p>
        </p:txBody>
      </p:sp>
      <p:pic>
        <p:nvPicPr>
          <p:cNvPr id="127" name="Google Shape;127;p24" title="efficient_frontier.png"/>
          <p:cNvPicPr preferRelativeResize="0"/>
          <p:nvPr/>
        </p:nvPicPr>
        <p:blipFill>
          <a:blip r:embed="rId3">
            <a:alphaModFix/>
          </a:blip>
          <a:stretch>
            <a:fillRect/>
          </a:stretch>
        </p:blipFill>
        <p:spPr>
          <a:xfrm>
            <a:off x="0" y="3191000"/>
            <a:ext cx="3059502" cy="1952501"/>
          </a:xfrm>
          <a:prstGeom prst="rect">
            <a:avLst/>
          </a:prstGeom>
          <a:noFill/>
          <a:ln>
            <a:noFill/>
          </a:ln>
        </p:spPr>
      </p:pic>
      <p:pic>
        <p:nvPicPr>
          <p:cNvPr id="128" name="Google Shape;128;p24" title="optimal_portfolio_weights.png"/>
          <p:cNvPicPr preferRelativeResize="0"/>
          <p:nvPr/>
        </p:nvPicPr>
        <p:blipFill>
          <a:blip r:embed="rId4">
            <a:alphaModFix/>
          </a:blip>
          <a:stretch>
            <a:fillRect/>
          </a:stretch>
        </p:blipFill>
        <p:spPr>
          <a:xfrm>
            <a:off x="4971350" y="3191000"/>
            <a:ext cx="4172652" cy="2039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Constrained Optimisation and Portfolio Options</a:t>
            </a:r>
            <a:endParaRPr/>
          </a:p>
        </p:txBody>
      </p:sp>
      <p:sp>
        <p:nvSpPr>
          <p:cNvPr id="134" name="Google Shape;134;p25"/>
          <p:cNvSpPr txBox="1"/>
          <p:nvPr>
            <p:ph idx="1" type="body"/>
          </p:nvPr>
        </p:nvSpPr>
        <p:spPr>
          <a:xfrm>
            <a:off x="311700" y="1144538"/>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GB" sz="1100"/>
              <a:t>To reduce the dominance of </a:t>
            </a:r>
            <a:r>
              <a:rPr b="1" lang="en-GB" sz="1100"/>
              <a:t>NVDA</a:t>
            </a:r>
            <a:r>
              <a:rPr lang="en-GB" sz="1100"/>
              <a:t> in the portfolio, constraints were introduced to limit the allocation to individual stocks.</a:t>
            </a:r>
            <a:endParaRPr sz="1100"/>
          </a:p>
          <a:p>
            <a:pPr indent="0" lvl="0" marL="457200" rtl="0" algn="l">
              <a:spcBef>
                <a:spcPts val="1200"/>
              </a:spcBef>
              <a:spcAft>
                <a:spcPts val="0"/>
              </a:spcAft>
              <a:buNone/>
            </a:pPr>
            <a:r>
              <a:rPr lang="en-GB" sz="1100" u="sng"/>
              <a:t>Restraints</a:t>
            </a:r>
            <a:r>
              <a:rPr lang="en-GB" sz="1100"/>
              <a:t>:</a:t>
            </a:r>
            <a:endParaRPr sz="1100"/>
          </a:p>
          <a:p>
            <a:pPr indent="-298450" lvl="0" marL="914400" rtl="0" algn="l">
              <a:spcBef>
                <a:spcPts val="1200"/>
              </a:spcBef>
              <a:spcAft>
                <a:spcPts val="0"/>
              </a:spcAft>
              <a:buSzPts val="1100"/>
              <a:buChar char="●"/>
            </a:pPr>
            <a:r>
              <a:rPr b="1" lang="en-GB" sz="1100"/>
              <a:t>Minimum allocation: </a:t>
            </a:r>
            <a:r>
              <a:rPr lang="en-GB" sz="1100"/>
              <a:t>5% per stock</a:t>
            </a:r>
            <a:endParaRPr sz="1100"/>
          </a:p>
          <a:p>
            <a:pPr indent="-298450" lvl="0" marL="914400" rtl="0" algn="l">
              <a:spcBef>
                <a:spcPts val="0"/>
              </a:spcBef>
              <a:spcAft>
                <a:spcPts val="0"/>
              </a:spcAft>
              <a:buSzPts val="1100"/>
              <a:buChar char="●"/>
            </a:pPr>
            <a:r>
              <a:rPr b="1" lang="en-GB" sz="1100"/>
              <a:t>Maximum allocation:</a:t>
            </a:r>
            <a:r>
              <a:rPr lang="en-GB" sz="1100"/>
              <a:t> 50% per stock</a:t>
            </a:r>
            <a:endParaRPr sz="1100"/>
          </a:p>
          <a:p>
            <a:pPr indent="-298450" lvl="0" marL="914400" rtl="0" algn="l">
              <a:spcBef>
                <a:spcPts val="0"/>
              </a:spcBef>
              <a:spcAft>
                <a:spcPts val="0"/>
              </a:spcAft>
              <a:buSzPts val="1100"/>
              <a:buChar char="●"/>
            </a:pPr>
            <a:r>
              <a:rPr b="1" lang="en-GB" sz="1100"/>
              <a:t>Total allocation: </a:t>
            </a:r>
            <a:r>
              <a:rPr lang="en-GB" sz="1100"/>
              <a:t>100%</a:t>
            </a:r>
            <a:endParaRPr sz="1100"/>
          </a:p>
          <a:p>
            <a:pPr indent="-298450" lvl="0" marL="457200" rtl="0" algn="l">
              <a:spcBef>
                <a:spcPts val="0"/>
              </a:spcBef>
              <a:spcAft>
                <a:spcPts val="0"/>
              </a:spcAft>
              <a:buSzPts val="1100"/>
              <a:buChar char="●"/>
            </a:pPr>
            <a:r>
              <a:rPr lang="en-GB" sz="1100"/>
              <a:t>The </a:t>
            </a:r>
            <a:r>
              <a:rPr b="1" lang="en-GB" sz="1100"/>
              <a:t>low-risk </a:t>
            </a:r>
            <a:r>
              <a:rPr lang="en-GB" sz="1100"/>
              <a:t>portfolio has the lowest volatility at </a:t>
            </a:r>
            <a:r>
              <a:rPr b="1" lang="en-GB" sz="1100"/>
              <a:t>13.76%</a:t>
            </a:r>
            <a:r>
              <a:rPr lang="en-GB" sz="1100"/>
              <a:t> and an </a:t>
            </a:r>
            <a:r>
              <a:rPr lang="en-GB" sz="1100"/>
              <a:t>expected</a:t>
            </a:r>
            <a:r>
              <a:rPr lang="en-GB" sz="1100"/>
              <a:t> annual return of </a:t>
            </a:r>
            <a:r>
              <a:rPr b="1" lang="en-GB" sz="1100"/>
              <a:t>39.62%. </a:t>
            </a:r>
            <a:r>
              <a:rPr lang="en-GB" sz="1100"/>
              <a:t>It is comprised mainly of </a:t>
            </a:r>
            <a:r>
              <a:rPr b="1" lang="en-GB" sz="1100"/>
              <a:t>NOC</a:t>
            </a:r>
            <a:r>
              <a:rPr lang="en-GB" sz="1100"/>
              <a:t> and </a:t>
            </a:r>
            <a:r>
              <a:rPr b="1" lang="en-GB" sz="1100"/>
              <a:t>DXC, </a:t>
            </a:r>
            <a:r>
              <a:rPr lang="en-GB" sz="1100"/>
              <a:t>which have historically low volatility. </a:t>
            </a:r>
            <a:endParaRPr sz="1100"/>
          </a:p>
          <a:p>
            <a:pPr indent="-298450" lvl="0" marL="457200" rtl="0" algn="l">
              <a:spcBef>
                <a:spcPts val="0"/>
              </a:spcBef>
              <a:spcAft>
                <a:spcPts val="0"/>
              </a:spcAft>
              <a:buSzPts val="1100"/>
              <a:buChar char="●"/>
            </a:pPr>
            <a:r>
              <a:rPr lang="en-GB" sz="1100"/>
              <a:t>The </a:t>
            </a:r>
            <a:r>
              <a:rPr b="1" lang="en-GB" sz="1100"/>
              <a:t>medium-risk</a:t>
            </a:r>
            <a:r>
              <a:rPr lang="en-GB" sz="1100"/>
              <a:t> portfolio has a volatility of </a:t>
            </a:r>
            <a:r>
              <a:rPr b="1" lang="en-GB" sz="1100"/>
              <a:t>13.81%</a:t>
            </a:r>
            <a:r>
              <a:rPr lang="en-GB" sz="1100"/>
              <a:t> and a slightly higher expected annual return of </a:t>
            </a:r>
            <a:r>
              <a:rPr b="1" lang="en-GB" sz="1100"/>
              <a:t>40.1%.</a:t>
            </a:r>
            <a:r>
              <a:rPr lang="en-GB" sz="1100"/>
              <a:t> It is also comprised largely of </a:t>
            </a:r>
            <a:r>
              <a:rPr b="1" lang="en-GB" sz="1100"/>
              <a:t>NOC</a:t>
            </a:r>
            <a:r>
              <a:rPr lang="en-GB" sz="1100"/>
              <a:t> and </a:t>
            </a:r>
            <a:r>
              <a:rPr b="1" lang="en-GB" sz="1100"/>
              <a:t>DXC, </a:t>
            </a:r>
            <a:r>
              <a:rPr lang="en-GB" sz="1100"/>
              <a:t>but increases the weighting of </a:t>
            </a:r>
            <a:r>
              <a:rPr b="1" lang="en-GB" sz="1100"/>
              <a:t>STZ.</a:t>
            </a:r>
            <a:endParaRPr b="1" sz="1100"/>
          </a:p>
          <a:p>
            <a:pPr indent="-298450" lvl="0" marL="457200" rtl="0" algn="l">
              <a:spcBef>
                <a:spcPts val="0"/>
              </a:spcBef>
              <a:spcAft>
                <a:spcPts val="0"/>
              </a:spcAft>
              <a:buSzPts val="1100"/>
              <a:buChar char="●"/>
            </a:pPr>
            <a:r>
              <a:rPr lang="en-GB" sz="1100"/>
              <a:t>The </a:t>
            </a:r>
            <a:r>
              <a:rPr b="1" lang="en-GB" sz="1100"/>
              <a:t>high-risk</a:t>
            </a:r>
            <a:r>
              <a:rPr lang="en-GB" sz="1100"/>
              <a:t> portfolio has a significantly larger expected annual return at </a:t>
            </a:r>
            <a:r>
              <a:rPr b="1" lang="en-GB" sz="1100"/>
              <a:t>52.54%</a:t>
            </a:r>
            <a:r>
              <a:rPr lang="en-GB" sz="1100"/>
              <a:t>, but a substantially higher risk at </a:t>
            </a:r>
            <a:r>
              <a:rPr b="1" lang="en-GB" sz="1100"/>
              <a:t>22.23%.</a:t>
            </a:r>
            <a:r>
              <a:rPr lang="en-GB" sz="1100"/>
              <a:t> This is driven primarily by the </a:t>
            </a:r>
            <a:r>
              <a:rPr b="1" lang="en-GB" sz="1100"/>
              <a:t>50%</a:t>
            </a:r>
            <a:r>
              <a:rPr lang="en-GB" sz="1100"/>
              <a:t> allocation to </a:t>
            </a:r>
            <a:r>
              <a:rPr b="1" lang="en-GB" sz="1100"/>
              <a:t>NVDA</a:t>
            </a:r>
            <a:r>
              <a:rPr lang="en-GB" sz="1100"/>
              <a:t>. </a:t>
            </a:r>
            <a:endParaRPr sz="1100"/>
          </a:p>
          <a:p>
            <a:pPr indent="0" lvl="0" marL="0" rtl="0" algn="l">
              <a:spcBef>
                <a:spcPts val="1200"/>
              </a:spcBef>
              <a:spcAft>
                <a:spcPts val="1200"/>
              </a:spcAft>
              <a:buNone/>
            </a:pPr>
            <a:r>
              <a:t/>
            </a:r>
            <a:endParaRPr sz="1100"/>
          </a:p>
        </p:txBody>
      </p:sp>
      <p:pic>
        <p:nvPicPr>
          <p:cNvPr id="135" name="Google Shape;135;p25" title="portfolio_options.png"/>
          <p:cNvPicPr preferRelativeResize="0"/>
          <p:nvPr/>
        </p:nvPicPr>
        <p:blipFill>
          <a:blip r:embed="rId3">
            <a:alphaModFix/>
          </a:blip>
          <a:stretch>
            <a:fillRect/>
          </a:stretch>
        </p:blipFill>
        <p:spPr>
          <a:xfrm>
            <a:off x="5345325" y="3524249"/>
            <a:ext cx="3798676" cy="16192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